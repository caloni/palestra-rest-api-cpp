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59" r:id="rId1"/>
  </p:sldMasterIdLst>
  <p:notesMasterIdLst>
    <p:notesMasterId r:id="rId39"/>
  </p:notesMasterIdLst>
  <p:sldIdLst>
    <p:sldId id="27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84" r:id="rId22"/>
    <p:sldId id="285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75" r:id="rId38"/>
  </p:sldIdLst>
  <p:sldSz cx="9144000" cy="5143500" type="screen16x9"/>
  <p:notesSz cx="6858000" cy="9144000"/>
  <p:embeddedFontLst>
    <p:embeddedFont>
      <p:font typeface="Orbitron" panose="02000000000000000000" pitchFamily="2" charset="0"/>
      <p:regular r:id="rId40"/>
      <p:bold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707" autoAdjust="0"/>
  </p:normalViewPr>
  <p:slideViewPr>
    <p:cSldViewPr snapToGrid="0">
      <p:cViewPr varScale="1">
        <p:scale>
          <a:sx n="145" d="100"/>
          <a:sy n="145" d="100"/>
        </p:scale>
        <p:origin x="624" y="126"/>
      </p:cViewPr>
      <p:guideLst/>
    </p:cSldViewPr>
  </p:slideViewPr>
  <p:outlineViewPr>
    <p:cViewPr>
      <p:scale>
        <a:sx n="33" d="100"/>
        <a:sy n="33" d="100"/>
      </p:scale>
      <p:origin x="0" y="-713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8815311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9723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7329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3" name="Shape 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8045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6827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7" name="Shape 7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5432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80808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10709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62379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4" name="Shape 10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73154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1" name="Shape 11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87153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693757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5" name="Shape 12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29216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15630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80467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5" name="Shape 14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75619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2" name="Shape 1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519042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9" name="Shape 1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01559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6" name="Shape 1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60961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3" name="Shape 17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4153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3" name="Shape 17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4369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3" name="Shape 17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81088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60515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3" name="Shape 17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796636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297263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998754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67144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995477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05321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07474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78554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38368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07149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71678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7869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63031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0" name="Shape 18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2323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599" cy="841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7999" cy="755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7999" cy="317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/>
        </p:nvSpPr>
        <p:spPr>
          <a:xfrm>
            <a:off x="4572000" y="25"/>
            <a:ext cx="4572000" cy="51434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199" cy="1482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199" cy="1235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sz="21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sz="21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sz="21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sz="21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sz="21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sz="21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sz="21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sz="21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sz="21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599" cy="196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599" cy="1300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"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0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gi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11708" y="2141575"/>
            <a:ext cx="8520599" cy="2052599"/>
          </a:xfrm>
        </p:spPr>
        <p:txBody>
          <a:bodyPr/>
          <a:lstStyle/>
          <a:p>
            <a:r>
              <a:rPr lang="en-US" dirty="0" smtClean="0"/>
              <a:t>REST API C++</a:t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algo</a:t>
            </a:r>
            <a:r>
              <a:rPr lang="en-US" dirty="0" smtClean="0"/>
              <a:t> do </a:t>
            </a:r>
            <a:r>
              <a:rPr lang="en-US" dirty="0" err="1" smtClean="0"/>
              <a:t>tipo</a:t>
            </a:r>
            <a:r>
              <a:rPr lang="en-US" dirty="0" smtClean="0"/>
              <a:t>)</a:t>
            </a:r>
            <a:endParaRPr lang="pt-BR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311700" y="4231125"/>
            <a:ext cx="8520599" cy="792600"/>
          </a:xfrm>
        </p:spPr>
        <p:txBody>
          <a:bodyPr/>
          <a:lstStyle/>
          <a:p>
            <a:r>
              <a:rPr lang="en-US" dirty="0" err="1" smtClean="0"/>
              <a:t>Wanderley</a:t>
            </a:r>
            <a:r>
              <a:rPr lang="en-US" dirty="0" smtClean="0"/>
              <a:t> </a:t>
            </a:r>
            <a:r>
              <a:rPr lang="en-US" dirty="0" err="1" smtClean="0"/>
              <a:t>Caloni</a:t>
            </a:r>
            <a:endParaRPr lang="pt-BR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99" y="155967"/>
            <a:ext cx="8520599" cy="185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456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Shape 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33015" y="107576"/>
            <a:ext cx="514349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Shape 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2184561" y="184325"/>
            <a:ext cx="4774874" cy="4774849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Shape 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6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INDUSTRY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>
            <a:spLocks noGrp="1"/>
          </p:cNvSpPr>
          <p:nvPr>
            <p:ph type="title"/>
          </p:nvPr>
        </p:nvSpPr>
        <p:spPr>
          <a:xfrm>
            <a:off x="1420937" y="445025"/>
            <a:ext cx="7411361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6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Industry</a:t>
            </a:r>
          </a:p>
        </p:txBody>
      </p:sp>
      <p:pic>
        <p:nvPicPr>
          <p:cNvPr id="66" name="Shape 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311700" y="49235"/>
            <a:ext cx="1103244" cy="110323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Shape 6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2286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" sz="2000" b="0" i="0" u="none" strike="noStrike" cap="none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Century</a:t>
            </a:r>
          </a:p>
          <a:p>
            <a:pPr marL="228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" sz="2000" b="0" i="0" u="none" strike="noStrike" cap="none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Ali</a:t>
            </a:r>
          </a:p>
          <a:p>
            <a:pPr marL="228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" sz="2000" b="0" i="0" u="none" strike="noStrike" cap="none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STI</a:t>
            </a:r>
          </a:p>
          <a:p>
            <a:pPr marL="228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" sz="2000" b="0" i="0" u="none" strike="noStrike" cap="none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NXP</a:t>
            </a:r>
          </a:p>
          <a:p>
            <a:pPr marL="228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" sz="2000" b="0" i="0" u="none" strike="noStrike" cap="none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Freescale</a:t>
            </a:r>
          </a:p>
          <a:p>
            <a:pPr marL="228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" sz="2000" b="0" i="0" u="none" strike="noStrike" cap="none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YouCast!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1420937" y="445025"/>
            <a:ext cx="7411361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6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IPTV e Embedded</a:t>
            </a:r>
          </a:p>
        </p:txBody>
      </p:sp>
      <p:pic>
        <p:nvPicPr>
          <p:cNvPr id="73" name="Shape 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92" y="1152475"/>
            <a:ext cx="7663136" cy="3359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Shape 7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311700" y="49235"/>
            <a:ext cx="1103244" cy="1103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>
            <a:spLocks noGrp="1"/>
          </p:cNvSpPr>
          <p:nvPr>
            <p:ph type="title"/>
          </p:nvPr>
        </p:nvSpPr>
        <p:spPr>
          <a:xfrm>
            <a:off x="1420937" y="445025"/>
            <a:ext cx="7411361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6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IPTV e Embedded</a:t>
            </a:r>
          </a:p>
        </p:txBody>
      </p:sp>
      <p:pic>
        <p:nvPicPr>
          <p:cNvPr id="80" name="Shape 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311700" y="49235"/>
            <a:ext cx="1103244" cy="1103238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Shape 8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2286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"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From head-end to set-top-box</a:t>
            </a:r>
          </a:p>
          <a:p>
            <a:pPr marL="228600" marR="0" lvl="1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"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Apps/media distribution</a:t>
            </a:r>
          </a:p>
          <a:p>
            <a:pPr marL="228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"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Firmware</a:t>
            </a:r>
          </a:p>
          <a:p>
            <a:pPr marL="228600" marR="0" lvl="1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"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Corporative Broadcasting</a:t>
            </a:r>
          </a:p>
          <a:p>
            <a:pPr marL="228600" marR="0" lvl="1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"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Digital-Signaling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>
            <a:spLocks noGrp="1"/>
          </p:cNvSpPr>
          <p:nvPr>
            <p:ph type="title"/>
          </p:nvPr>
        </p:nvSpPr>
        <p:spPr>
          <a:xfrm>
            <a:off x="1420937" y="445025"/>
            <a:ext cx="7411361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6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Automation</a:t>
            </a:r>
          </a:p>
        </p:txBody>
      </p:sp>
      <p:pic>
        <p:nvPicPr>
          <p:cNvPr id="87" name="Shape 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111" y="1152475"/>
            <a:ext cx="5597465" cy="3731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Shape 8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311700" y="49235"/>
            <a:ext cx="1103244" cy="1103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>
            <a:spLocks noGrp="1"/>
          </p:cNvSpPr>
          <p:nvPr>
            <p:ph type="title"/>
          </p:nvPr>
        </p:nvSpPr>
        <p:spPr>
          <a:xfrm>
            <a:off x="1420937" y="445025"/>
            <a:ext cx="7411361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6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Automation</a:t>
            </a:r>
          </a:p>
        </p:txBody>
      </p:sp>
      <p:pic>
        <p:nvPicPr>
          <p:cNvPr id="94" name="Shape 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311700" y="49235"/>
            <a:ext cx="1103244" cy="110323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Shape 9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2286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"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Industrial process proprietary framework (LogProd)</a:t>
            </a:r>
          </a:p>
          <a:p>
            <a:pPr marL="228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"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Full productive chain traceability</a:t>
            </a:r>
          </a:p>
          <a:p>
            <a:pPr marL="228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"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High performance (C++)</a:t>
            </a:r>
          </a:p>
          <a:p>
            <a:pPr marL="228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"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Intuitive portable interface (Qt)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6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SERVICES</a:t>
            </a:r>
          </a:p>
        </p:txBody>
      </p:sp>
      <p:pic>
        <p:nvPicPr>
          <p:cNvPr id="101" name="Shape 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35525" y="1244108"/>
            <a:ext cx="4472946" cy="3842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 txBox="1">
            <a:spLocks noGrp="1"/>
          </p:cNvSpPr>
          <p:nvPr>
            <p:ph type="title"/>
          </p:nvPr>
        </p:nvSpPr>
        <p:spPr>
          <a:xfrm>
            <a:off x="1420937" y="445025"/>
            <a:ext cx="7411361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6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Services</a:t>
            </a:r>
          </a:p>
        </p:txBody>
      </p:sp>
      <p:pic>
        <p:nvPicPr>
          <p:cNvPr id="107" name="Shape 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124946"/>
            <a:ext cx="1039202" cy="89277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Shape 10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Scua Information Security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GAS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Easytech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Samsung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Bovespa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Intelitrader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title"/>
          </p:nvPr>
        </p:nvSpPr>
        <p:spPr>
          <a:xfrm>
            <a:off x="1420937" y="445025"/>
            <a:ext cx="7411361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6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Information Security</a:t>
            </a:r>
          </a:p>
        </p:txBody>
      </p:sp>
      <p:pic>
        <p:nvPicPr>
          <p:cNvPr id="114" name="Shape 1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124946"/>
            <a:ext cx="1039202" cy="89277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Shape 1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20+ years consulting in the market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Low level Windows (Services, API Hooks, Drivers, BIOS)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Intel technology from bare metal to cloud services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>
            <a:spLocks noGrp="1"/>
          </p:cNvSpPr>
          <p:nvPr>
            <p:ph type="title"/>
          </p:nvPr>
        </p:nvSpPr>
        <p:spPr>
          <a:xfrm>
            <a:off x="1420937" y="445025"/>
            <a:ext cx="7411361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6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Mobile</a:t>
            </a:r>
          </a:p>
        </p:txBody>
      </p:sp>
      <p:pic>
        <p:nvPicPr>
          <p:cNvPr id="121" name="Shape 1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124946"/>
            <a:ext cx="1039202" cy="89277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Shape 1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Android development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Backend, cloud and app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 txBox="1">
            <a:spLocks noGrp="1"/>
          </p:cNvSpPr>
          <p:nvPr>
            <p:ph type="title"/>
          </p:nvPr>
        </p:nvSpPr>
        <p:spPr>
          <a:xfrm>
            <a:off x="1420937" y="445025"/>
            <a:ext cx="7411361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6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Financial market</a:t>
            </a:r>
          </a:p>
        </p:txBody>
      </p:sp>
      <p:pic>
        <p:nvPicPr>
          <p:cNvPr id="128" name="Shape 1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124946"/>
            <a:ext cx="1039202" cy="89277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Shape 1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10+ years in the market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Order routing (FIX Protocol)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Pre-trade risk management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Market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6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SOFTWARE</a:t>
            </a:r>
          </a:p>
        </p:txBody>
      </p:sp>
      <p:pic>
        <p:nvPicPr>
          <p:cNvPr id="135" name="Shape 1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84972" y="1218178"/>
            <a:ext cx="4774055" cy="3610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 txBox="1">
            <a:spLocks noGrp="1"/>
          </p:cNvSpPr>
          <p:nvPr>
            <p:ph type="title"/>
          </p:nvPr>
        </p:nvSpPr>
        <p:spPr>
          <a:xfrm>
            <a:off x="1420937" y="445025"/>
            <a:ext cx="7411361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6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Software on demand</a:t>
            </a:r>
          </a:p>
        </p:txBody>
      </p:sp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 dirty="0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20+ </a:t>
            </a:r>
            <a:r>
              <a:rPr lang="en" sz="1800" b="0" i="0" u="none" strike="noStrike" cap="none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years in programming and software design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Conception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Requirements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PMF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QA process</a:t>
            </a:r>
          </a:p>
        </p:txBody>
      </p:sp>
      <p:pic>
        <p:nvPicPr>
          <p:cNvPr id="142" name="Shape 1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197570"/>
            <a:ext cx="1084500" cy="820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 txBox="1">
            <a:spLocks noGrp="1"/>
          </p:cNvSpPr>
          <p:nvPr>
            <p:ph type="title"/>
          </p:nvPr>
        </p:nvSpPr>
        <p:spPr>
          <a:xfrm>
            <a:off x="1420937" y="445025"/>
            <a:ext cx="7411361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6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Software on demand</a:t>
            </a:r>
          </a:p>
        </p:txBody>
      </p:sp>
      <p:sp>
        <p:nvSpPr>
          <p:cNvPr id="148" name="Shape 1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Critical parts development and maintenance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Code review with detailed report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Production monitoring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Low level tools expertise</a:t>
            </a:r>
          </a:p>
        </p:txBody>
      </p:sp>
      <p:pic>
        <p:nvPicPr>
          <p:cNvPr id="149" name="Shape 1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197570"/>
            <a:ext cx="1084500" cy="820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 txBox="1">
            <a:spLocks noGrp="1"/>
          </p:cNvSpPr>
          <p:nvPr>
            <p:ph type="title"/>
          </p:nvPr>
        </p:nvSpPr>
        <p:spPr>
          <a:xfrm>
            <a:off x="1420937" y="445025"/>
            <a:ext cx="7411361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6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Software on demand</a:t>
            </a:r>
          </a:p>
        </p:txBody>
      </p:sp>
      <p:sp>
        <p:nvSpPr>
          <p:cNvPr id="155" name="Shape 1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Formal process (Agile, Scrum)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Process improvement (adaptable to existing)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Internal team improvement (results in few months)</a:t>
            </a:r>
          </a:p>
        </p:txBody>
      </p:sp>
      <p:pic>
        <p:nvPicPr>
          <p:cNvPr id="156" name="Shape 1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197570"/>
            <a:ext cx="1084500" cy="820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 txBox="1">
            <a:spLocks noGrp="1"/>
          </p:cNvSpPr>
          <p:nvPr>
            <p:ph type="title"/>
          </p:nvPr>
        </p:nvSpPr>
        <p:spPr>
          <a:xfrm>
            <a:off x="1420937" y="445025"/>
            <a:ext cx="7411361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6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Software on demand</a:t>
            </a:r>
          </a:p>
        </p:txBody>
      </p:sp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Integration (API, REST, SOAP, COM)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Communication protocols (FTP, HTTP)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Physical interfaces (USB, COM serial)</a:t>
            </a:r>
          </a:p>
        </p:txBody>
      </p:sp>
      <p:pic>
        <p:nvPicPr>
          <p:cNvPr id="163" name="Shape 1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197570"/>
            <a:ext cx="1084500" cy="820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 txBox="1">
            <a:spLocks noGrp="1"/>
          </p:cNvSpPr>
          <p:nvPr>
            <p:ph type="title"/>
          </p:nvPr>
        </p:nvSpPr>
        <p:spPr>
          <a:xfrm>
            <a:off x="1420937" y="445025"/>
            <a:ext cx="7411361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6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Software on demand</a:t>
            </a:r>
          </a:p>
        </p:txBody>
      </p:sp>
      <p:sp>
        <p:nvSpPr>
          <p:cNvPr id="169" name="Shape 16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Mini-Courses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In-house technologies oriented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Short and concise lectures (minimum one hours) work oriented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Any day, hour, local (remoting included)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Discount for large groups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endParaRPr sz="1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Shape 1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197570"/>
            <a:ext cx="1084500" cy="820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 txBox="1">
            <a:spLocks noGrp="1"/>
          </p:cNvSpPr>
          <p:nvPr>
            <p:ph type="title"/>
          </p:nvPr>
        </p:nvSpPr>
        <p:spPr>
          <a:xfrm>
            <a:off x="1420937" y="445025"/>
            <a:ext cx="7411361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6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Software on demand</a:t>
            </a:r>
          </a:p>
        </p:txBody>
      </p:sp>
      <p:sp>
        <p:nvSpPr>
          <p:cNvPr id="176" name="Shape 17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Startups accelerator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Low cost in the first prototype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Low cost MVPs available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From the draft to monetizing beta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Investment easing</a:t>
            </a:r>
          </a:p>
        </p:txBody>
      </p:sp>
      <p:pic>
        <p:nvPicPr>
          <p:cNvPr id="177" name="Shape 1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197570"/>
            <a:ext cx="1084500" cy="820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 txBox="1">
            <a:spLocks noGrp="1"/>
          </p:cNvSpPr>
          <p:nvPr>
            <p:ph type="title"/>
          </p:nvPr>
        </p:nvSpPr>
        <p:spPr>
          <a:xfrm>
            <a:off x="1420937" y="445025"/>
            <a:ext cx="7411361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600" b="0" i="0" u="none" strike="noStrike" cap="none" dirty="0" smtClean="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Caloni</a:t>
            </a:r>
            <a:endParaRPr lang="en" sz="3600" b="0" i="0" u="none" strike="noStrike" cap="none" dirty="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176" name="Shape 17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 dirty="0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Programador C/C++ et all (Python/C#/JS/Pascal/Assembly/BAT)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dirty="0" smtClean="0"/>
              <a:t>Blogger: www.caloni.com.br</a:t>
            </a:r>
          </a:p>
          <a:p>
            <a:pPr marL="457200" lvl="0" indent="-342900">
              <a:spcAft>
                <a:spcPts val="0"/>
              </a:spcAft>
              <a:buClr>
                <a:schemeClr val="dk1"/>
              </a:buClr>
              <a:buSzPct val="25000"/>
            </a:pPr>
            <a:r>
              <a:rPr lang="en" dirty="0" smtClean="0"/>
              <a:t>Vlogger: </a:t>
            </a:r>
            <a:r>
              <a:rPr lang="pt-BR" dirty="0"/>
              <a:t>https://</a:t>
            </a:r>
            <a:r>
              <a:rPr lang="pt-BR" dirty="0" smtClean="0"/>
              <a:t>www.youtube.com/results?search_query=blogue+do+caloni</a:t>
            </a:r>
          </a:p>
          <a:p>
            <a:pPr marL="457200" lvl="0" indent="-342900">
              <a:spcAft>
                <a:spcPts val="0"/>
              </a:spcAft>
              <a:buClr>
                <a:schemeClr val="dk1"/>
              </a:buClr>
              <a:buSzPct val="25000"/>
            </a:pPr>
            <a:endParaRPr lang="en" sz="1800" b="0" i="0" u="none" strike="noStrike" cap="none" dirty="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Shape 1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197570"/>
            <a:ext cx="1084500" cy="820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918" y="3381919"/>
            <a:ext cx="2880114" cy="11869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41006" y="4521931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solidFill>
                  <a:schemeClr val="tx1"/>
                </a:solidFill>
              </a:rPr>
              <a:t>2013-2016</a:t>
            </a:r>
            <a:endParaRPr lang="pt-BR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454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642" y="138897"/>
            <a:ext cx="4783755" cy="484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529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600" dirty="0" smtClean="0">
                <a:latin typeface="Orbitron"/>
                <a:ea typeface="Orbitron"/>
                <a:cs typeface="Orbitron"/>
                <a:sym typeface="Orbitron"/>
              </a:rPr>
              <a:t>RESUMO</a:t>
            </a:r>
            <a:endParaRPr lang="en" sz="3600" b="0" i="0" u="none" strike="noStrike" cap="none" dirty="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866" y="1664138"/>
            <a:ext cx="2894265" cy="253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700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 txBox="1">
            <a:spLocks noGrp="1"/>
          </p:cNvSpPr>
          <p:nvPr>
            <p:ph type="title"/>
          </p:nvPr>
        </p:nvSpPr>
        <p:spPr>
          <a:xfrm>
            <a:off x="1420937" y="445025"/>
            <a:ext cx="7411361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600" b="0" i="0" u="none" strike="noStrike" cap="none" dirty="0" smtClean="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Resumo</a:t>
            </a:r>
            <a:endParaRPr lang="en" sz="3600" b="0" i="0" u="none" strike="noStrike" cap="none" dirty="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176" name="Shape 17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 dirty="0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Histórico C++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dirty="0" smtClean="0"/>
              <a:t>Evolução de Tecnologias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dirty="0" smtClean="0"/>
              <a:t>Internet (a rede mundial de computadores)</a:t>
            </a:r>
          </a:p>
          <a:p>
            <a:pPr marL="914400" lvl="1" indent="-342900"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400" b="0" i="0" u="none" strike="noStrike" cap="none" dirty="0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C++ não é .NET</a:t>
            </a:r>
          </a:p>
          <a:p>
            <a:pPr marL="914400" lvl="1" indent="-342900"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dirty="0" smtClean="0"/>
              <a:t>A Net vive de C++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sz="1800" b="0" i="0" u="none" strike="noStrike" cap="none" dirty="0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Use Case: tiodb</a:t>
            </a:r>
            <a:endParaRPr lang="en" sz="1800" b="0" i="0" u="none" strike="noStrike" cap="none" dirty="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880" y="138147"/>
            <a:ext cx="792057" cy="87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16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600" dirty="0" smtClean="0">
                <a:latin typeface="Orbitron"/>
                <a:ea typeface="Orbitron"/>
                <a:cs typeface="Orbitron"/>
                <a:sym typeface="Orbitron"/>
              </a:rPr>
              <a:t>Histórico C++</a:t>
            </a:r>
            <a:endParaRPr lang="en" sz="3600" b="0" i="0" u="none" strike="noStrike" cap="none" dirty="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05" y="1253655"/>
            <a:ext cx="8803387" cy="351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080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600" dirty="0" smtClean="0">
                <a:latin typeface="Orbitron"/>
                <a:ea typeface="Orbitron"/>
                <a:cs typeface="Orbitron"/>
                <a:sym typeface="Orbitron"/>
              </a:rPr>
              <a:t>Histórico C++</a:t>
            </a:r>
            <a:endParaRPr lang="en" sz="3600" b="0" i="0" u="none" strike="noStrike" cap="none" dirty="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47394" y="1226762"/>
            <a:ext cx="8803387" cy="35176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95683" y="1822827"/>
            <a:ext cx="14526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tx1"/>
                </a:solidFill>
              </a:rPr>
              <a:t>Lambdas</a:t>
            </a:r>
            <a:endParaRPr lang="pt-BR" sz="2400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95683" y="2719297"/>
            <a:ext cx="1314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tx1"/>
                </a:solidFill>
              </a:rPr>
              <a:t>Threads</a:t>
            </a:r>
            <a:endParaRPr lang="pt-BR" sz="2400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21083" y="3615768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>
                <a:solidFill>
                  <a:schemeClr val="tx1"/>
                </a:solidFill>
              </a:rPr>
              <a:t>Async</a:t>
            </a:r>
            <a:endParaRPr lang="pt-BR" sz="2400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>
            <a:stCxn id="2" idx="3"/>
            <a:endCxn id="3" idx="1"/>
          </p:cNvCxnSpPr>
          <p:nvPr/>
        </p:nvCxnSpPr>
        <p:spPr>
          <a:xfrm flipV="1">
            <a:off x="4255993" y="2053660"/>
            <a:ext cx="1539690" cy="9319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2" idx="3"/>
            <a:endCxn id="5" idx="1"/>
          </p:cNvCxnSpPr>
          <p:nvPr/>
        </p:nvCxnSpPr>
        <p:spPr>
          <a:xfrm flipV="1">
            <a:off x="4255993" y="2950130"/>
            <a:ext cx="1539690" cy="354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2" idx="3"/>
            <a:endCxn id="6" idx="1"/>
          </p:cNvCxnSpPr>
          <p:nvPr/>
        </p:nvCxnSpPr>
        <p:spPr>
          <a:xfrm>
            <a:off x="4255993" y="2985611"/>
            <a:ext cx="1565090" cy="8609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644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600" dirty="0" smtClean="0">
                <a:latin typeface="Orbitron"/>
                <a:ea typeface="Orbitron"/>
                <a:cs typeface="Orbitron"/>
                <a:sym typeface="Orbitron"/>
              </a:rPr>
              <a:t>Evolução de Tecnologias</a:t>
            </a:r>
            <a:endParaRPr lang="en" sz="3600" b="0" i="0" u="none" strike="noStrike" cap="none" dirty="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99" y="1760412"/>
            <a:ext cx="68580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845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600" dirty="0" smtClean="0">
                <a:latin typeface="Orbitron"/>
                <a:ea typeface="Orbitron"/>
                <a:cs typeface="Orbitron"/>
                <a:sym typeface="Orbitron"/>
              </a:rPr>
              <a:t>Evolução de Tecnologias: Apple</a:t>
            </a:r>
            <a:endParaRPr lang="en" sz="3600" b="0" i="0" u="none" strike="noStrike" cap="none" dirty="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594" y="1318993"/>
            <a:ext cx="6946809" cy="354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115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200" dirty="0" smtClean="0">
                <a:latin typeface="Orbitron"/>
                <a:ea typeface="Orbitron"/>
                <a:cs typeface="Orbitron"/>
                <a:sym typeface="Orbitron"/>
              </a:rPr>
              <a:t>Evolução de Tecnologias: Facebook</a:t>
            </a:r>
            <a:endParaRPr lang="en" sz="3200" b="0" i="0" u="none" strike="noStrike" cap="none" dirty="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282" y="1251322"/>
            <a:ext cx="4465434" cy="2896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7176" y="4510784"/>
            <a:ext cx="67056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/>
                </a:solidFill>
              </a:rPr>
              <a:t>https://code.facebook.com/posts/1661982097368498/futures-for-c-11-at-facebook/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86" y="4478957"/>
            <a:ext cx="1076190" cy="3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044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200" dirty="0" smtClean="0">
                <a:latin typeface="Orbitron"/>
                <a:ea typeface="Orbitron"/>
                <a:cs typeface="Orbitron"/>
                <a:sym typeface="Orbitron"/>
              </a:rPr>
              <a:t>Evolução de Tecnologias: Microsoft</a:t>
            </a:r>
            <a:endParaRPr lang="en" sz="3200" b="0" i="0" u="none" strike="noStrike" cap="none" dirty="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Chutou</a:t>
            </a:r>
            <a:r>
              <a:rPr lang="en-US" dirty="0" smtClean="0"/>
              <a:t> o pau da </a:t>
            </a:r>
            <a:r>
              <a:rPr lang="en-US" dirty="0" err="1" smtClean="0"/>
              <a:t>barraca</a:t>
            </a:r>
            <a:endParaRPr lang="en-US" dirty="0" smtClean="0"/>
          </a:p>
          <a:p>
            <a:r>
              <a:rPr lang="en-US" dirty="0" smtClean="0"/>
              <a:t>.NET, Python, </a:t>
            </a:r>
            <a:r>
              <a:rPr lang="en-US" dirty="0" err="1" smtClean="0"/>
              <a:t>TypeScript</a:t>
            </a:r>
            <a:r>
              <a:rPr lang="en-US" dirty="0" smtClean="0"/>
              <a:t>, </a:t>
            </a:r>
            <a:r>
              <a:rPr lang="en-US" dirty="0" err="1" smtClean="0"/>
              <a:t>Xamarin</a:t>
            </a:r>
            <a:r>
              <a:rPr lang="en-US" dirty="0" smtClean="0"/>
              <a:t> (Android, iOS), LLVM, Linux…</a:t>
            </a:r>
          </a:p>
          <a:p>
            <a:r>
              <a:rPr lang="pt-BR" dirty="0" smtClean="0"/>
              <a:t>C++ https</a:t>
            </a:r>
            <a:r>
              <a:rPr lang="pt-BR" dirty="0"/>
              <a:t>://</a:t>
            </a:r>
            <a:r>
              <a:rPr lang="pt-BR" dirty="0" smtClean="0"/>
              <a:t>blogs.msdn.microsoft.com/vcblog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CppRestSDK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C++/WinRT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CMake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4253654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200" dirty="0" smtClean="0">
                <a:latin typeface="Orbitron"/>
                <a:ea typeface="Orbitron"/>
                <a:cs typeface="Orbitron"/>
                <a:sym typeface="Orbitron"/>
              </a:rPr>
              <a:t>Evolução de Tecnologias: Microsoft</a:t>
            </a:r>
            <a:endParaRPr lang="en" sz="3200" b="0" i="0" u="none" strike="noStrike" cap="none" dirty="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16" y="1304302"/>
            <a:ext cx="6126566" cy="360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145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dirty="0" smtClean="0">
                <a:latin typeface="Orbitron"/>
                <a:ea typeface="Orbitron"/>
                <a:cs typeface="Orbitron"/>
                <a:sym typeface="Orbitron"/>
              </a:rPr>
              <a:t>Internet: a rede mundial de computadores</a:t>
            </a:r>
            <a:endParaRPr lang="en" b="0" i="0" u="none" strike="noStrike" cap="none" dirty="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Sockets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HTTP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NodeJS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REST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trike="sngStrike" dirty="0" smtClean="0"/>
              <a:t>.NET</a:t>
            </a:r>
            <a:endParaRPr lang="pt-BR" strike="sngStrike" dirty="0"/>
          </a:p>
        </p:txBody>
      </p:sp>
    </p:spTree>
    <p:extLst>
      <p:ext uri="{BB962C8B-B14F-4D97-AF65-F5344CB8AC3E}">
        <p14:creationId xmlns:p14="http://schemas.microsoft.com/office/powerpoint/2010/main" val="4065591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600" dirty="0" smtClean="0">
                <a:latin typeface="Orbitron"/>
                <a:ea typeface="Orbitron"/>
                <a:cs typeface="Orbitron"/>
                <a:sym typeface="Orbitron"/>
              </a:rPr>
              <a:t>.NET != C++</a:t>
            </a:r>
            <a:endParaRPr lang="en" sz="3600" b="0" i="0" u="none" strike="noStrike" cap="none" dirty="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758" y="1236743"/>
            <a:ext cx="3702481" cy="342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90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600" dirty="0" smtClean="0">
                <a:latin typeface="Orbitron"/>
                <a:ea typeface="Orbitron"/>
                <a:cs typeface="Orbitron"/>
                <a:sym typeface="Orbitron"/>
              </a:rPr>
              <a:t>C++ &gt; interNET</a:t>
            </a:r>
            <a:endParaRPr lang="en" sz="3600" b="0" i="0" u="none" strike="noStrike" cap="none" dirty="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5" name="Text Placeholder 1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Sockets: </a:t>
            </a:r>
            <a:r>
              <a:rPr lang="en-US" dirty="0" err="1" smtClean="0"/>
              <a:t>Posix</a:t>
            </a:r>
            <a:r>
              <a:rPr lang="en-US" dirty="0" smtClean="0"/>
              <a:t> (Unix/Linux), WinSock, Boost ASIO (C++)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HTTP: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NodeJS</a:t>
            </a:r>
            <a:r>
              <a:rPr lang="en-US" dirty="0" smtClean="0"/>
              <a:t>:</a:t>
            </a:r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115" y="2100524"/>
            <a:ext cx="2427219" cy="13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00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600" dirty="0" smtClean="0">
                <a:latin typeface="Orbitron"/>
                <a:ea typeface="Orbitron"/>
                <a:cs typeface="Orbitron"/>
                <a:sym typeface="Orbitron"/>
              </a:rPr>
              <a:t>C++ &gt; interNET</a:t>
            </a:r>
            <a:endParaRPr lang="en" sz="3600" b="0" i="0" u="none" strike="noStrike" cap="none" dirty="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10468" y="4072040"/>
            <a:ext cx="3644444" cy="585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Hardware</a:t>
            </a:r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710468" y="3486560"/>
            <a:ext cx="3644444" cy="585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Operating System</a:t>
            </a:r>
            <a:endParaRPr lang="pt-BR" dirty="0"/>
          </a:p>
        </p:txBody>
      </p:sp>
      <p:sp>
        <p:nvSpPr>
          <p:cNvPr id="7" name="Rectangle 6"/>
          <p:cNvSpPr/>
          <p:nvPr/>
        </p:nvSpPr>
        <p:spPr>
          <a:xfrm>
            <a:off x="710468" y="2901080"/>
            <a:ext cx="3644444" cy="585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Sockets</a:t>
            </a:r>
            <a:endParaRPr lang="pt-BR" dirty="0"/>
          </a:p>
        </p:txBody>
      </p:sp>
      <p:sp>
        <p:nvSpPr>
          <p:cNvPr id="8" name="Rectangle 7"/>
          <p:cNvSpPr/>
          <p:nvPr/>
        </p:nvSpPr>
        <p:spPr>
          <a:xfrm>
            <a:off x="710468" y="2315600"/>
            <a:ext cx="3644444" cy="585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Protocols</a:t>
            </a:r>
            <a:endParaRPr lang="pt-BR" dirty="0"/>
          </a:p>
        </p:txBody>
      </p:sp>
      <p:sp>
        <p:nvSpPr>
          <p:cNvPr id="9" name="Rectangle 8"/>
          <p:cNvSpPr/>
          <p:nvPr/>
        </p:nvSpPr>
        <p:spPr>
          <a:xfrm>
            <a:off x="710468" y="1730120"/>
            <a:ext cx="3644444" cy="585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Applications</a:t>
            </a:r>
            <a:endParaRPr lang="pt-BR" dirty="0"/>
          </a:p>
        </p:txBody>
      </p:sp>
      <p:sp>
        <p:nvSpPr>
          <p:cNvPr id="3" name="TextBox 2"/>
          <p:cNvSpPr txBox="1"/>
          <p:nvPr/>
        </p:nvSpPr>
        <p:spPr>
          <a:xfrm>
            <a:off x="6631044" y="1730120"/>
            <a:ext cx="1835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1044" y="2076173"/>
            <a:ext cx="1835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tx1"/>
                </a:solidFill>
              </a:rPr>
              <a:t>TypeScript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31044" y="2391672"/>
            <a:ext cx="1835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Ruby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1043" y="2689122"/>
            <a:ext cx="1835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tx1"/>
                </a:solidFill>
              </a:rPr>
              <a:t>NodeJS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31043" y="2986572"/>
            <a:ext cx="1835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REST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1043" y="3764263"/>
            <a:ext cx="526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C++</a:t>
            </a:r>
          </a:p>
        </p:txBody>
      </p:sp>
      <p:cxnSp>
        <p:nvCxnSpPr>
          <p:cNvPr id="16" name="Straight Arrow Connector 15"/>
          <p:cNvCxnSpPr>
            <a:stCxn id="9" idx="3"/>
            <a:endCxn id="3" idx="1"/>
          </p:cNvCxnSpPr>
          <p:nvPr/>
        </p:nvCxnSpPr>
        <p:spPr>
          <a:xfrm flipV="1">
            <a:off x="4354912" y="1884009"/>
            <a:ext cx="2276132" cy="1388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9" idx="3"/>
            <a:endCxn id="11" idx="1"/>
          </p:cNvCxnSpPr>
          <p:nvPr/>
        </p:nvCxnSpPr>
        <p:spPr>
          <a:xfrm>
            <a:off x="4354912" y="2022860"/>
            <a:ext cx="2276132" cy="2072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9" idx="3"/>
            <a:endCxn id="12" idx="1"/>
          </p:cNvCxnSpPr>
          <p:nvPr/>
        </p:nvCxnSpPr>
        <p:spPr>
          <a:xfrm>
            <a:off x="4354912" y="2022860"/>
            <a:ext cx="2276132" cy="52270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9" idx="3"/>
            <a:endCxn id="13" idx="1"/>
          </p:cNvCxnSpPr>
          <p:nvPr/>
        </p:nvCxnSpPr>
        <p:spPr>
          <a:xfrm>
            <a:off x="4354912" y="2022860"/>
            <a:ext cx="2276131" cy="8201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3"/>
            <a:endCxn id="14" idx="1"/>
          </p:cNvCxnSpPr>
          <p:nvPr/>
        </p:nvCxnSpPr>
        <p:spPr>
          <a:xfrm>
            <a:off x="4354912" y="2022860"/>
            <a:ext cx="2276131" cy="111760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8" idx="3"/>
            <a:endCxn id="15" idx="1"/>
          </p:cNvCxnSpPr>
          <p:nvPr/>
        </p:nvCxnSpPr>
        <p:spPr>
          <a:xfrm>
            <a:off x="4354912" y="2608340"/>
            <a:ext cx="2276131" cy="13098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7" idx="3"/>
            <a:endCxn id="15" idx="1"/>
          </p:cNvCxnSpPr>
          <p:nvPr/>
        </p:nvCxnSpPr>
        <p:spPr>
          <a:xfrm>
            <a:off x="4354912" y="3193820"/>
            <a:ext cx="2276131" cy="7243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6" idx="3"/>
            <a:endCxn id="15" idx="1"/>
          </p:cNvCxnSpPr>
          <p:nvPr/>
        </p:nvCxnSpPr>
        <p:spPr>
          <a:xfrm>
            <a:off x="4354912" y="3779300"/>
            <a:ext cx="2276131" cy="1388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407377" y="1612106"/>
            <a:ext cx="1434096" cy="1841957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5" name="Straight Arrow Connector 34"/>
          <p:cNvCxnSpPr>
            <a:stCxn id="33" idx="2"/>
            <a:endCxn id="15" idx="0"/>
          </p:cNvCxnSpPr>
          <p:nvPr/>
        </p:nvCxnSpPr>
        <p:spPr>
          <a:xfrm flipH="1">
            <a:off x="6894181" y="3454063"/>
            <a:ext cx="230244" cy="3102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1332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rbitron"/>
              <a:buNone/>
            </a:pPr>
            <a:r>
              <a:rPr lang="en" sz="3600" dirty="0" smtClean="0">
                <a:latin typeface="Orbitron"/>
                <a:ea typeface="Orbitron"/>
                <a:cs typeface="Orbitron"/>
                <a:sym typeface="Orbitron"/>
              </a:rPr>
              <a:t>Use Case: tiodb</a:t>
            </a:r>
            <a:endParaRPr lang="en" sz="3600" b="0" i="0" u="none" strike="noStrike" cap="none" dirty="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970" y="1276820"/>
            <a:ext cx="7260058" cy="360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988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 txBox="1">
            <a:spLocks noGrp="1"/>
          </p:cNvSpPr>
          <p:nvPr>
            <p:ph type="body" idx="4294967295"/>
          </p:nvPr>
        </p:nvSpPr>
        <p:spPr>
          <a:xfrm>
            <a:off x="254000" y="898525"/>
            <a:ext cx="8521700" cy="3416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endParaRPr sz="1800" b="0" i="0" u="none" strike="noStrike" cap="none" dirty="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endParaRPr sz="1800" b="0" i="0" u="none" strike="noStrike" cap="none" dirty="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endParaRPr sz="1800" b="0" i="0" u="none" strike="noStrike" cap="none" dirty="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endParaRPr sz="1800" b="0" i="0" u="none" strike="noStrike" cap="none" dirty="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-US" sz="1800" b="0" i="0" u="none" strike="noStrike" cap="none" dirty="0" err="1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Dúvidas</a:t>
            </a:r>
            <a:r>
              <a:rPr lang="en-US" sz="1800" b="0" i="0" u="none" strike="noStrike" cap="none" dirty="0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lang="pt-BR" sz="1800" b="0" i="0" u="none" strike="noStrike" cap="none" dirty="0" smtClean="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pt-BR" sz="1800" b="0" i="0" u="none" strike="noStrike" cap="none" dirty="0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      w</a:t>
            </a:r>
            <a:r>
              <a:rPr lang="en" sz="1800" b="0" i="0" u="none" strike="noStrike" cap="none" dirty="0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anderley.caloni@bitforge.com.br</a:t>
            </a:r>
          </a:p>
          <a:p>
            <a:pPr marL="457200" marR="0" lvl="0" indent="-3429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Open Sans"/>
              <a:buNone/>
            </a:pPr>
            <a:r>
              <a:rPr lang="en" dirty="0" smtClean="0"/>
              <a:t>www.caloni.com.br</a:t>
            </a:r>
            <a:endParaRPr lang="en" sz="1800" b="0" i="0" u="none" strike="noStrike" cap="none" dirty="0" smtClean="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Shape 1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2021" y="209676"/>
            <a:ext cx="2901603" cy="2921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-dark-2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455</Words>
  <Application>Microsoft Office PowerPoint</Application>
  <PresentationFormat>On-screen Show (16:9)</PresentationFormat>
  <Paragraphs>137</Paragraphs>
  <Slides>37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Orbitron</vt:lpstr>
      <vt:lpstr>Open Sans</vt:lpstr>
      <vt:lpstr>simple-dark-2</vt:lpstr>
      <vt:lpstr>REST API C++ (ou algo do tipo)</vt:lpstr>
      <vt:lpstr>PowerPoint Presentation</vt:lpstr>
      <vt:lpstr>INDUSTRY</vt:lpstr>
      <vt:lpstr>Industry</vt:lpstr>
      <vt:lpstr>IPTV e Embedded</vt:lpstr>
      <vt:lpstr>IPTV e Embedded</vt:lpstr>
      <vt:lpstr>Automation</vt:lpstr>
      <vt:lpstr>Automation</vt:lpstr>
      <vt:lpstr>SERVICES</vt:lpstr>
      <vt:lpstr>Services</vt:lpstr>
      <vt:lpstr>Information Security</vt:lpstr>
      <vt:lpstr>Mobile</vt:lpstr>
      <vt:lpstr>Financial market</vt:lpstr>
      <vt:lpstr>SOFTWARE</vt:lpstr>
      <vt:lpstr>Software on demand</vt:lpstr>
      <vt:lpstr>Software on demand</vt:lpstr>
      <vt:lpstr>Software on demand</vt:lpstr>
      <vt:lpstr>Software on demand</vt:lpstr>
      <vt:lpstr>Software on demand</vt:lpstr>
      <vt:lpstr>Software on demand</vt:lpstr>
      <vt:lpstr>Caloni</vt:lpstr>
      <vt:lpstr>PowerPoint Presentation</vt:lpstr>
      <vt:lpstr>RESUMO</vt:lpstr>
      <vt:lpstr>Resumo</vt:lpstr>
      <vt:lpstr>Histórico C++</vt:lpstr>
      <vt:lpstr>Histórico C++</vt:lpstr>
      <vt:lpstr>Evolução de Tecnologias</vt:lpstr>
      <vt:lpstr>Evolução de Tecnologias: Apple</vt:lpstr>
      <vt:lpstr>Evolução de Tecnologias: Facebook</vt:lpstr>
      <vt:lpstr>Evolução de Tecnologias: Microsoft</vt:lpstr>
      <vt:lpstr>Evolução de Tecnologias: Microsoft</vt:lpstr>
      <vt:lpstr>Internet: a rede mundial de computadores</vt:lpstr>
      <vt:lpstr>.NET != C++</vt:lpstr>
      <vt:lpstr>C++ &gt; interNET</vt:lpstr>
      <vt:lpstr>C++ &gt; interNET</vt:lpstr>
      <vt:lpstr>Use Case: tiodb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 API C++ (ou algo do tipo)</dc:title>
  <dc:creator>Caloni</dc:creator>
  <cp:lastModifiedBy>wanderley@caloni.com.br</cp:lastModifiedBy>
  <cp:revision>11</cp:revision>
  <dcterms:modified xsi:type="dcterms:W3CDTF">2016-10-23T19:51:37Z</dcterms:modified>
</cp:coreProperties>
</file>